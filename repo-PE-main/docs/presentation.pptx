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Corbel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orbel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Corbel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orbel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3d54889a5_2_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53d54889a5_2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3d54889a5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3d54889a5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3d54889a5_7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3d54889a5_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35d4e07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35d4e07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3d54889a5_1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53d54889a5_1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3d54889a5_4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53d54889a5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3d54889a5_4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53d54889a5_4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35d4e076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35d4e076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35d4e076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35d4e076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3d54889a5_4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53d54889a5_4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685800" y="590550"/>
            <a:ext cx="8001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A00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85800" y="2190750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>
                <a:solidFill>
                  <a:srgbClr val="FFFFFF"/>
                </a:solidFill>
              </a:defRPr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>
                <a:solidFill>
                  <a:srgbClr val="FFFFFF"/>
                </a:solidFill>
              </a:defRPr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>
                <a:solidFill>
                  <a:srgbClr val="FFFFFF"/>
                </a:solidFill>
              </a:defRPr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>
                <a:solidFill>
                  <a:srgbClr val="FFFFFF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685800" y="26479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>
                <a:solidFill>
                  <a:srgbClr val="FFFFFF"/>
                </a:solidFill>
              </a:defRPr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>
                <a:solidFill>
                  <a:srgbClr val="FFFFFF"/>
                </a:solidFill>
              </a:defRPr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>
                <a:solidFill>
                  <a:srgbClr val="FFFFFF"/>
                </a:solidFill>
              </a:defRPr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>
                <a:solidFill>
                  <a:srgbClr val="FFFFFF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pic>
        <p:nvPicPr>
          <p:cNvPr descr="/Users/ranja/Documents/5-resources/ppt/2018 ppt-with R/new/working files/graphics_HD-title-gold.png"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755777"/>
            <a:ext cx="9144000" cy="1383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685800" y="2286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685800" y="1314450"/>
            <a:ext cx="77724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722313" y="3305179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500"/>
              <a:buFont typeface="Arial"/>
              <a:buNone/>
              <a:defRPr sz="15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20"/>
              </a:spcBef>
              <a:spcAft>
                <a:spcPts val="0"/>
              </a:spcAft>
              <a:buSzPts val="1100"/>
              <a:buFont typeface="Arial"/>
              <a:buNone/>
              <a:defRPr sz="1100"/>
            </a:lvl4pPr>
            <a:lvl5pPr indent="-228600" lvl="4" marL="2286000" algn="l">
              <a:spcBef>
                <a:spcPts val="220"/>
              </a:spcBef>
              <a:spcAft>
                <a:spcPts val="0"/>
              </a:spcAft>
              <a:buSzPts val="1100"/>
              <a:buFont typeface="Arial"/>
              <a:buNone/>
              <a:defRPr sz="1100"/>
            </a:lvl5pPr>
            <a:lvl6pPr indent="-228600" lvl="5" marL="2743200" algn="l">
              <a:spcBef>
                <a:spcPts val="220"/>
              </a:spcBef>
              <a:spcAft>
                <a:spcPts val="0"/>
              </a:spcAft>
              <a:buSzPts val="1100"/>
              <a:buFont typeface="Arial"/>
              <a:buNone/>
              <a:defRPr sz="1100"/>
            </a:lvl6pPr>
            <a:lvl7pPr indent="-228600" lvl="6" marL="3200400" algn="l">
              <a:spcBef>
                <a:spcPts val="220"/>
              </a:spcBef>
              <a:spcAft>
                <a:spcPts val="0"/>
              </a:spcAft>
              <a:buSzPts val="1100"/>
              <a:buFont typeface="Arial"/>
              <a:buNone/>
              <a:defRPr sz="1100"/>
            </a:lvl7pPr>
            <a:lvl8pPr indent="-228600" lvl="7" marL="3657600" algn="l">
              <a:spcBef>
                <a:spcPts val="220"/>
              </a:spcBef>
              <a:spcAft>
                <a:spcPts val="0"/>
              </a:spcAft>
              <a:buSzPts val="1100"/>
              <a:buFont typeface="Arial"/>
              <a:buNone/>
              <a:defRPr sz="1100"/>
            </a:lvl8pPr>
            <a:lvl9pPr indent="-228600" lvl="8" marL="4114800" algn="l">
              <a:spcBef>
                <a:spcPts val="220"/>
              </a:spcBef>
              <a:spcAft>
                <a:spcPts val="0"/>
              </a:spcAft>
              <a:buSzPts val="1100"/>
              <a:buFont typeface="Arial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685800" y="2286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85800" y="1314450"/>
            <a:ext cx="38100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SzPts val="2100"/>
              <a:buFont typeface="Arial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»"/>
              <a:defRPr sz="1400"/>
            </a:lvl5pPr>
            <a:lvl6pPr indent="-317500" lvl="5" marL="2743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»"/>
              <a:defRPr sz="1400"/>
            </a:lvl6pPr>
            <a:lvl7pPr indent="-317500" lvl="6" marL="32004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»"/>
              <a:defRPr sz="1400"/>
            </a:lvl7pPr>
            <a:lvl8pPr indent="-317500" lvl="7" marL="3657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»"/>
              <a:defRPr sz="1400"/>
            </a:lvl8pPr>
            <a:lvl9pPr indent="-317500" lvl="8" marL="4114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»"/>
              <a:defRPr sz="1400"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4648200" y="1314450"/>
            <a:ext cx="38100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SzPts val="2100"/>
              <a:buFont typeface="Arial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»"/>
              <a:defRPr sz="1400"/>
            </a:lvl5pPr>
            <a:lvl6pPr indent="-317500" lvl="5" marL="2743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»"/>
              <a:defRPr sz="1400"/>
            </a:lvl6pPr>
            <a:lvl7pPr indent="-317500" lvl="6" marL="32004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»"/>
              <a:defRPr sz="1400"/>
            </a:lvl7pPr>
            <a:lvl8pPr indent="-317500" lvl="7" marL="3657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»"/>
              <a:defRPr sz="1400"/>
            </a:lvl8pPr>
            <a:lvl9pPr indent="-317500" lvl="8" marL="4114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»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457200" y="1151338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500"/>
              <a:buFont typeface="Arial"/>
              <a:buNone/>
              <a:defRPr b="1" sz="15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b="1" sz="14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9pPr>
          </a:lstStyle>
          <a:p/>
        </p:txBody>
      </p:sp>
      <p:sp>
        <p:nvSpPr>
          <p:cNvPr id="73" name="Google Shape;73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–"/>
              <a:defRPr sz="1500"/>
            </a:lvl2pPr>
            <a:lvl3pPr indent="-317500" lvl="2" marL="1371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  <a:defRPr sz="14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9pPr>
          </a:lstStyle>
          <a:p/>
        </p:txBody>
      </p:sp>
      <p:sp>
        <p:nvSpPr>
          <p:cNvPr id="74" name="Google Shape;74;p19"/>
          <p:cNvSpPr txBox="1"/>
          <p:nvPr>
            <p:ph idx="3" type="body"/>
          </p:nvPr>
        </p:nvSpPr>
        <p:spPr>
          <a:xfrm>
            <a:off x="4645027" y="1151338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500"/>
              <a:buFont typeface="Arial"/>
              <a:buNone/>
              <a:defRPr b="1" sz="15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b="1" sz="14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9pPr>
          </a:lstStyle>
          <a:p/>
        </p:txBody>
      </p:sp>
      <p:sp>
        <p:nvSpPr>
          <p:cNvPr id="75" name="Google Shape;75;p19"/>
          <p:cNvSpPr txBox="1"/>
          <p:nvPr>
            <p:ph idx="4" type="body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–"/>
              <a:defRPr sz="1500"/>
            </a:lvl2pPr>
            <a:lvl3pPr indent="-317500" lvl="2" marL="1371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  <a:defRPr sz="14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685800" y="2286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>
            <a:off x="457204" y="204790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>
            <a:off x="3575050" y="204792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SzPts val="2100"/>
              <a:buFont typeface="Arial"/>
              <a:buChar char="–"/>
              <a:defRPr sz="21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»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»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»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»"/>
              <a:defRPr sz="1500"/>
            </a:lvl9pPr>
          </a:lstStyle>
          <a:p/>
        </p:txBody>
      </p:sp>
      <p:sp>
        <p:nvSpPr>
          <p:cNvPr id="81" name="Google Shape;81;p21"/>
          <p:cNvSpPr txBox="1"/>
          <p:nvPr>
            <p:ph idx="2" type="body"/>
          </p:nvPr>
        </p:nvSpPr>
        <p:spPr>
          <a:xfrm>
            <a:off x="457204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20"/>
              </a:spcBef>
              <a:spcAft>
                <a:spcPts val="0"/>
              </a:spcAft>
              <a:buSzPts val="1100"/>
              <a:buFont typeface="Arial"/>
              <a:buNone/>
              <a:defRPr sz="110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2pPr>
            <a:lvl3pPr indent="-228600" lvl="2" marL="1371600" algn="l">
              <a:spcBef>
                <a:spcPts val="160"/>
              </a:spcBef>
              <a:spcAft>
                <a:spcPts val="0"/>
              </a:spcAft>
              <a:buSzPts val="800"/>
              <a:buFont typeface="Arial"/>
              <a:buNone/>
              <a:defRPr sz="800"/>
            </a:lvl3pPr>
            <a:lvl4pPr indent="-228600" lvl="3" marL="1828800" algn="l">
              <a:spcBef>
                <a:spcPts val="14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indent="-228600" lvl="4" marL="2286000" algn="l">
              <a:spcBef>
                <a:spcPts val="14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indent="-228600" lvl="5" marL="2743200" algn="l">
              <a:spcBef>
                <a:spcPts val="14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indent="-228600" lvl="6" marL="3200400" algn="l">
              <a:spcBef>
                <a:spcPts val="14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indent="-228600" lvl="7" marL="3657600" algn="l">
              <a:spcBef>
                <a:spcPts val="14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indent="-228600" lvl="8" marL="4114800" algn="l">
              <a:spcBef>
                <a:spcPts val="14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/>
          <p:nvPr>
            <p:ph type="title"/>
          </p:nvPr>
        </p:nvSpPr>
        <p:spPr>
          <a:xfrm>
            <a:off x="1792288" y="3600453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2"/>
          <p:cNvSpPr txBox="1"/>
          <p:nvPr>
            <p:ph idx="1" type="body"/>
          </p:nvPr>
        </p:nvSpPr>
        <p:spPr>
          <a:xfrm>
            <a:off x="1792288" y="4025506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20"/>
              </a:spcBef>
              <a:spcAft>
                <a:spcPts val="0"/>
              </a:spcAft>
              <a:buSzPts val="1100"/>
              <a:buFont typeface="Arial"/>
              <a:buNone/>
              <a:defRPr sz="110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2pPr>
            <a:lvl3pPr indent="-228600" lvl="2" marL="1371600" algn="l">
              <a:spcBef>
                <a:spcPts val="160"/>
              </a:spcBef>
              <a:spcAft>
                <a:spcPts val="0"/>
              </a:spcAft>
              <a:buSzPts val="800"/>
              <a:buFont typeface="Arial"/>
              <a:buNone/>
              <a:defRPr sz="800"/>
            </a:lvl3pPr>
            <a:lvl4pPr indent="-228600" lvl="3" marL="1828800" algn="l">
              <a:spcBef>
                <a:spcPts val="14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indent="-228600" lvl="4" marL="2286000" algn="l">
              <a:spcBef>
                <a:spcPts val="14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indent="-228600" lvl="5" marL="2743200" algn="l">
              <a:spcBef>
                <a:spcPts val="14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indent="-228600" lvl="6" marL="3200400" algn="l">
              <a:spcBef>
                <a:spcPts val="14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indent="-228600" lvl="7" marL="3657600" algn="l">
              <a:spcBef>
                <a:spcPts val="14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indent="-228600" lvl="8" marL="4114800" algn="l">
              <a:spcBef>
                <a:spcPts val="14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685800" y="2286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 rot="5400000">
            <a:off x="3086100" y="-1085850"/>
            <a:ext cx="2971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>
            <p:ph type="title"/>
          </p:nvPr>
        </p:nvSpPr>
        <p:spPr>
          <a:xfrm rot="5400000">
            <a:off x="5457825" y="1285875"/>
            <a:ext cx="405765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" type="body"/>
          </p:nvPr>
        </p:nvSpPr>
        <p:spPr>
          <a:xfrm rot="5400000">
            <a:off x="1495426" y="-581025"/>
            <a:ext cx="405765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85800" y="2286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rgbClr val="7A001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rgbClr val="7A001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rgbClr val="7A001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rgbClr val="7A001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85800" y="1314450"/>
            <a:ext cx="77724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7A001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rgbClr val="7A0019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7A001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rgbClr val="7A001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7A0019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7A0019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7A0019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7A0019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7A0019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/Users/ranja/Documents/5-resources/ppt/2018 ppt-with R/new/working files/graphics_HD-M-gold.png" id="53" name="Google Shape;53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852035"/>
            <a:ext cx="9144000" cy="29146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ctrTitle"/>
          </p:nvPr>
        </p:nvSpPr>
        <p:spPr>
          <a:xfrm>
            <a:off x="249375" y="498775"/>
            <a:ext cx="87129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Gravitational-wave parameter estimation</a:t>
            </a:r>
            <a:endParaRPr b="1"/>
          </a:p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477950" y="1319650"/>
            <a:ext cx="66813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Shrey Aggarwal</a:t>
            </a:r>
            <a:r>
              <a:rPr lang="en" sz="1600"/>
              <a:t>, </a:t>
            </a:r>
            <a:r>
              <a:rPr b="1" lang="en" sz="1600">
                <a:solidFill>
                  <a:srgbClr val="1D1C1D"/>
                </a:solidFill>
                <a:highlight>
                  <a:srgbClr val="FFFFFF"/>
                </a:highlight>
              </a:rPr>
              <a:t>Calvin Firth, Steven Henderson, Yiwen Chen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type="title"/>
          </p:nvPr>
        </p:nvSpPr>
        <p:spPr>
          <a:xfrm>
            <a:off x="685800" y="228600"/>
            <a:ext cx="7772400" cy="857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103" name="Google Shape;103;p26"/>
          <p:cNvSpPr txBox="1"/>
          <p:nvPr>
            <p:ph idx="1" type="body"/>
          </p:nvPr>
        </p:nvSpPr>
        <p:spPr>
          <a:xfrm>
            <a:off x="685800" y="883225"/>
            <a:ext cx="7969800" cy="366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Mergers of compact binary systems produce gravitational waves (GW) that are detected by the Laser Interferometer Gravitational-waves Observatory (LIGO) and Virgo Interferometer.</a:t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These detections have expanded the prospects of multi-messenger astronomy significantly. There are significant ongoing efforts to enable low-latency electromagnetic follow-ups of these GW signals.</a:t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The parameter estimation of GW detections is a significant part of this process as it informs </a:t>
            </a: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about</a:t>
            </a: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 the nature and location of the mergers. Current </a:t>
            </a: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techniques</a:t>
            </a: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 either use matched filter and/or likelihood based techniques that are computationally expensive.</a:t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Here we demonstrate a likelihood-free </a:t>
            </a: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inference</a:t>
            </a: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 algorithm for doing the same with accelerated hardware. This work is loosely based on the AMPLFI pipeline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/>
          <p:nvPr>
            <p:ph type="title"/>
          </p:nvPr>
        </p:nvSpPr>
        <p:spPr>
          <a:xfrm>
            <a:off x="685800" y="228600"/>
            <a:ext cx="7772400" cy="857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Idea</a:t>
            </a:r>
            <a:endParaRPr/>
          </a:p>
        </p:txBody>
      </p:sp>
      <p:sp>
        <p:nvSpPr>
          <p:cNvPr id="109" name="Google Shape;109;p27"/>
          <p:cNvSpPr txBox="1"/>
          <p:nvPr>
            <p:ph idx="1" type="body"/>
          </p:nvPr>
        </p:nvSpPr>
        <p:spPr>
          <a:xfrm>
            <a:off x="685800" y="1023500"/>
            <a:ext cx="7772400" cy="85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Data: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Spectrogram data that captures the frequency evolution with respect to time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IMRPhenomD waveforms using </a:t>
            </a:r>
            <a:r>
              <a:rPr lang="en"/>
              <a:t>only</a:t>
            </a:r>
            <a:r>
              <a:rPr lang="en"/>
              <a:t> 8 </a:t>
            </a:r>
            <a:r>
              <a:rPr lang="en"/>
              <a:t>parameters</a:t>
            </a:r>
            <a:r>
              <a:rPr lang="en"/>
              <a:t> that are </a:t>
            </a:r>
            <a:r>
              <a:rPr lang="en"/>
              <a:t>important</a:t>
            </a:r>
            <a:r>
              <a:rPr lang="en"/>
              <a:t> for sky localisation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Similarity Embedding: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Reduces the data size and dimensionality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Marginalizes </a:t>
            </a:r>
            <a:r>
              <a:rPr lang="en"/>
              <a:t>expensive</a:t>
            </a:r>
            <a:r>
              <a:rPr lang="en"/>
              <a:t> parameters like time of arrival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Normalizing Flows: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Provides likelihood-free Bayesian parameter estimation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Fast sampling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type="title"/>
          </p:nvPr>
        </p:nvSpPr>
        <p:spPr>
          <a:xfrm>
            <a:off x="685800" y="228600"/>
            <a:ext cx="7772400" cy="857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and Injection  (ML4GW)</a:t>
            </a:r>
            <a:endParaRPr/>
          </a:p>
        </p:txBody>
      </p:sp>
      <p:pic>
        <p:nvPicPr>
          <p:cNvPr id="115" name="Google Shape;1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875" y="924600"/>
            <a:ext cx="4943258" cy="375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8"/>
          <p:cNvSpPr txBox="1"/>
          <p:nvPr/>
        </p:nvSpPr>
        <p:spPr>
          <a:xfrm>
            <a:off x="136750" y="1187600"/>
            <a:ext cx="4332600" cy="3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en" sz="1900">
                <a:solidFill>
                  <a:srgbClr val="595959"/>
                </a:solidFill>
              </a:rPr>
              <a:t>LIGO O3b data</a:t>
            </a:r>
            <a:endParaRPr sz="1900">
              <a:solidFill>
                <a:srgbClr val="595959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en" sz="1900">
                <a:solidFill>
                  <a:srgbClr val="595959"/>
                </a:solidFill>
              </a:rPr>
              <a:t>Interferometers: Livingston and Hanford</a:t>
            </a:r>
            <a:endParaRPr sz="1900">
              <a:solidFill>
                <a:srgbClr val="595959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en" sz="1900">
                <a:solidFill>
                  <a:srgbClr val="595959"/>
                </a:solidFill>
              </a:rPr>
              <a:t>Duration: 8 seconds</a:t>
            </a:r>
            <a:endParaRPr sz="1900">
              <a:solidFill>
                <a:srgbClr val="595959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en" sz="1900">
                <a:solidFill>
                  <a:srgbClr val="595959"/>
                </a:solidFill>
              </a:rPr>
              <a:t>Waveform: IMRPhenomD</a:t>
            </a:r>
            <a:endParaRPr sz="1900">
              <a:solidFill>
                <a:srgbClr val="595959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en" sz="1900">
                <a:solidFill>
                  <a:srgbClr val="595959"/>
                </a:solidFill>
              </a:rPr>
              <a:t>Parameters: 8</a:t>
            </a:r>
            <a:endParaRPr sz="1900">
              <a:solidFill>
                <a:srgbClr val="595959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en" sz="1900">
                <a:solidFill>
                  <a:srgbClr val="595959"/>
                </a:solidFill>
              </a:rPr>
              <a:t>Num Waveforms: ~ 1000</a:t>
            </a:r>
            <a:endParaRPr sz="1900">
              <a:solidFill>
                <a:srgbClr val="595959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en" sz="1900">
                <a:solidFill>
                  <a:srgbClr val="595959"/>
                </a:solidFill>
              </a:rPr>
              <a:t>The data is split into train, validation, and test set as 80%, 10%, 10%</a:t>
            </a:r>
            <a:endParaRPr sz="19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>
            <p:ph type="title"/>
          </p:nvPr>
        </p:nvSpPr>
        <p:spPr>
          <a:xfrm>
            <a:off x="6858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 (ML4GW)</a:t>
            </a:r>
            <a:endParaRPr/>
          </a:p>
        </p:txBody>
      </p:sp>
      <p:sp>
        <p:nvSpPr>
          <p:cNvPr id="122" name="Google Shape;122;p29"/>
          <p:cNvSpPr txBox="1"/>
          <p:nvPr/>
        </p:nvSpPr>
        <p:spPr>
          <a:xfrm>
            <a:off x="384475" y="912350"/>
            <a:ext cx="833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95959"/>
                </a:solidFill>
              </a:rPr>
              <a:t>Chunks -&gt; Whiten -&gt; Time Shifts -&gt; Spectrograms</a:t>
            </a:r>
            <a:endParaRPr sz="2400">
              <a:solidFill>
                <a:srgbClr val="595959"/>
              </a:solidFill>
            </a:endParaRPr>
          </a:p>
        </p:txBody>
      </p:sp>
      <p:pic>
        <p:nvPicPr>
          <p:cNvPr id="123" name="Google Shape;12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050" y="1876899"/>
            <a:ext cx="2687174" cy="114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0475" y="1876901"/>
            <a:ext cx="2905175" cy="124264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3230575" y="1672075"/>
            <a:ext cx="317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 = [batch, ifo, data points]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2175" y="3530701"/>
            <a:ext cx="2687176" cy="946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4038" y="3458414"/>
            <a:ext cx="2905175" cy="106248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9"/>
          <p:cNvSpPr txBox="1"/>
          <p:nvPr/>
        </p:nvSpPr>
        <p:spPr>
          <a:xfrm>
            <a:off x="6498875" y="1672075"/>
            <a:ext cx="317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 = [batch, ifo, data points]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9"/>
          <p:cNvSpPr txBox="1"/>
          <p:nvPr/>
        </p:nvSpPr>
        <p:spPr>
          <a:xfrm>
            <a:off x="3092175" y="3221025"/>
            <a:ext cx="317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 = [batch, ifo, 10 shifts, data points]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9"/>
          <p:cNvSpPr txBox="1"/>
          <p:nvPr/>
        </p:nvSpPr>
        <p:spPr>
          <a:xfrm>
            <a:off x="6021925" y="3171475"/>
            <a:ext cx="317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Shape = [batch, ifo, 10 shifts, rows, columns]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1" name="Google Shape;131;p29"/>
          <p:cNvCxnSpPr/>
          <p:nvPr/>
        </p:nvCxnSpPr>
        <p:spPr>
          <a:xfrm flipH="1" rot="10800000">
            <a:off x="5696925" y="2310775"/>
            <a:ext cx="2532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29"/>
          <p:cNvCxnSpPr/>
          <p:nvPr/>
        </p:nvCxnSpPr>
        <p:spPr>
          <a:xfrm>
            <a:off x="6374025" y="3059350"/>
            <a:ext cx="5400" cy="10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9"/>
          <p:cNvCxnSpPr/>
          <p:nvPr/>
        </p:nvCxnSpPr>
        <p:spPr>
          <a:xfrm rot="10800000">
            <a:off x="5350050" y="3152850"/>
            <a:ext cx="10350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9"/>
          <p:cNvCxnSpPr/>
          <p:nvPr/>
        </p:nvCxnSpPr>
        <p:spPr>
          <a:xfrm>
            <a:off x="5377600" y="3158450"/>
            <a:ext cx="0" cy="18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29"/>
          <p:cNvCxnSpPr/>
          <p:nvPr/>
        </p:nvCxnSpPr>
        <p:spPr>
          <a:xfrm>
            <a:off x="5762975" y="3830075"/>
            <a:ext cx="20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9"/>
          <p:cNvSpPr txBox="1"/>
          <p:nvPr/>
        </p:nvSpPr>
        <p:spPr>
          <a:xfrm>
            <a:off x="186300" y="1702450"/>
            <a:ext cx="2746200" cy="2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The first plot shows the injected signal (signal in inset)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Second is the whitened signal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Next is the 10 </a:t>
            </a:r>
            <a:r>
              <a:rPr lang="en" sz="1800">
                <a:solidFill>
                  <a:srgbClr val="595959"/>
                </a:solidFill>
              </a:rPr>
              <a:t>random</a:t>
            </a:r>
            <a:r>
              <a:rPr lang="en" sz="1800">
                <a:solidFill>
                  <a:srgbClr val="595959"/>
                </a:solidFill>
              </a:rPr>
              <a:t> timeshifts of 2 seconds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Finally the input is the spectrogram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>
            <a:off x="6858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Similarity Embedding Network </a:t>
            </a:r>
            <a:endParaRPr/>
          </a:p>
        </p:txBody>
      </p:sp>
      <p:sp>
        <p:nvSpPr>
          <p:cNvPr id="142" name="Google Shape;142;p30"/>
          <p:cNvSpPr/>
          <p:nvPr/>
        </p:nvSpPr>
        <p:spPr>
          <a:xfrm>
            <a:off x="5933625" y="2734009"/>
            <a:ext cx="1079700" cy="64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ch1, ch2</a:t>
            </a:r>
            <a:endParaRPr/>
          </a:p>
        </p:txBody>
      </p:sp>
      <p:sp>
        <p:nvSpPr>
          <p:cNvPr id="143" name="Google Shape;143;p30"/>
          <p:cNvSpPr/>
          <p:nvPr/>
        </p:nvSpPr>
        <p:spPr>
          <a:xfrm>
            <a:off x="7744324" y="2734000"/>
            <a:ext cx="1239000" cy="64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VICRegLoss</a:t>
            </a:r>
            <a:endParaRPr/>
          </a:p>
        </p:txBody>
      </p:sp>
      <p:sp>
        <p:nvSpPr>
          <p:cNvPr id="144" name="Google Shape;144;p30"/>
          <p:cNvSpPr/>
          <p:nvPr/>
        </p:nvSpPr>
        <p:spPr>
          <a:xfrm>
            <a:off x="5944990" y="1473875"/>
            <a:ext cx="1079700" cy="64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Data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(ch1, ch2)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" name="Google Shape;145;p30"/>
          <p:cNvCxnSpPr>
            <a:stCxn id="144" idx="2"/>
            <a:endCxn id="142" idx="0"/>
          </p:cNvCxnSpPr>
          <p:nvPr/>
        </p:nvCxnSpPr>
        <p:spPr>
          <a:xfrm flipH="1">
            <a:off x="6473440" y="2116475"/>
            <a:ext cx="11400" cy="6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30"/>
          <p:cNvCxnSpPr>
            <a:stCxn id="142" idx="3"/>
            <a:endCxn id="143" idx="1"/>
          </p:cNvCxnSpPr>
          <p:nvPr/>
        </p:nvCxnSpPr>
        <p:spPr>
          <a:xfrm>
            <a:off x="7013325" y="3055309"/>
            <a:ext cx="73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30"/>
          <p:cNvCxnSpPr>
            <a:stCxn id="143" idx="1"/>
            <a:endCxn id="142" idx="3"/>
          </p:cNvCxnSpPr>
          <p:nvPr/>
        </p:nvCxnSpPr>
        <p:spPr>
          <a:xfrm rot="10800000">
            <a:off x="7013224" y="3055300"/>
            <a:ext cx="73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30"/>
          <p:cNvCxnSpPr>
            <a:stCxn id="142" idx="2"/>
          </p:cNvCxnSpPr>
          <p:nvPr/>
        </p:nvCxnSpPr>
        <p:spPr>
          <a:xfrm>
            <a:off x="6473475" y="3376609"/>
            <a:ext cx="6300" cy="58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30"/>
          <p:cNvSpPr/>
          <p:nvPr/>
        </p:nvSpPr>
        <p:spPr>
          <a:xfrm>
            <a:off x="5944990" y="3963608"/>
            <a:ext cx="1079700" cy="64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Ch1, ch2</a:t>
            </a:r>
            <a:endParaRPr/>
          </a:p>
        </p:txBody>
      </p:sp>
      <p:sp>
        <p:nvSpPr>
          <p:cNvPr id="150" name="Google Shape;150;p30"/>
          <p:cNvSpPr txBox="1"/>
          <p:nvPr/>
        </p:nvSpPr>
        <p:spPr>
          <a:xfrm>
            <a:off x="312900" y="1160075"/>
            <a:ext cx="5284800" cy="3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The similarity embedding network uses two encoders for different ifos (ch1 and ch2)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Each </a:t>
            </a:r>
            <a:r>
              <a:rPr lang="en" sz="1800">
                <a:solidFill>
                  <a:srgbClr val="595959"/>
                </a:solidFill>
              </a:rPr>
              <a:t>input</a:t>
            </a:r>
            <a:r>
              <a:rPr lang="en" sz="1800">
                <a:solidFill>
                  <a:srgbClr val="595959"/>
                </a:solidFill>
              </a:rPr>
              <a:t> consists of 2D spectrograms with 10 time shifts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The encoder takes in a batch of data, projects it into lower dimension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The VICReg Loss is calculated for the </a:t>
            </a:r>
            <a:r>
              <a:rPr lang="en" sz="1800">
                <a:solidFill>
                  <a:srgbClr val="595959"/>
                </a:solidFill>
              </a:rPr>
              <a:t>embedded data and is minimized in each epoch</a:t>
            </a:r>
            <a:r>
              <a:rPr lang="en" sz="1800">
                <a:solidFill>
                  <a:srgbClr val="595959"/>
                </a:solidFill>
              </a:rPr>
              <a:t> 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Finally, each both channel embeddings are concatenated for passing to flow model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type="title"/>
          </p:nvPr>
        </p:nvSpPr>
        <p:spPr>
          <a:xfrm>
            <a:off x="6858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 Architecture</a:t>
            </a:r>
            <a:endParaRPr/>
          </a:p>
        </p:txBody>
      </p:sp>
      <p:sp>
        <p:nvSpPr>
          <p:cNvPr id="156" name="Google Shape;156;p31"/>
          <p:cNvSpPr txBox="1"/>
          <p:nvPr>
            <p:ph idx="1" type="body"/>
          </p:nvPr>
        </p:nvSpPr>
        <p:spPr>
          <a:xfrm>
            <a:off x="283925" y="1325450"/>
            <a:ext cx="50937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42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The encoder is a Conv2D architecture that projects all the spectrograms into embedding_dim dimensions</a:t>
            </a:r>
            <a:endParaRPr sz="1800"/>
          </a:p>
          <a:p>
            <a:pPr indent="0" lvl="0" marL="457200" rtl="0" algn="l">
              <a:spcBef>
                <a:spcPts val="42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42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The VICRegloss function takes the embedded dataset and calculates the difference between the time shifted waveform from the same injection</a:t>
            </a:r>
            <a:endParaRPr sz="1800"/>
          </a:p>
        </p:txBody>
      </p:sp>
      <p:sp>
        <p:nvSpPr>
          <p:cNvPr id="157" name="Google Shape;157;p31"/>
          <p:cNvSpPr/>
          <p:nvPr/>
        </p:nvSpPr>
        <p:spPr>
          <a:xfrm>
            <a:off x="5680400" y="1402300"/>
            <a:ext cx="3258900" cy="297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Insert Network Architecture </a:t>
            </a:r>
            <a:r>
              <a:rPr lang="en"/>
              <a:t>Diagram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type="title"/>
          </p:nvPr>
        </p:nvSpPr>
        <p:spPr>
          <a:xfrm>
            <a:off x="685800" y="228600"/>
            <a:ext cx="7772400" cy="857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 Training</a:t>
            </a:r>
            <a:endParaRPr/>
          </a:p>
        </p:txBody>
      </p:sp>
      <p:sp>
        <p:nvSpPr>
          <p:cNvPr id="163" name="Google Shape;163;p32"/>
          <p:cNvSpPr txBox="1"/>
          <p:nvPr>
            <p:ph idx="1" type="body"/>
          </p:nvPr>
        </p:nvSpPr>
        <p:spPr>
          <a:xfrm>
            <a:off x="197300" y="1319950"/>
            <a:ext cx="4255500" cy="2971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500"/>
              <a:buChar char="•"/>
            </a:pPr>
            <a:r>
              <a:rPr lang="en" sz="2100"/>
              <a:t>The training is not optimal yet</a:t>
            </a:r>
            <a:endParaRPr sz="21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2100"/>
              <a:t>Training loss is too high</a:t>
            </a:r>
            <a:endParaRPr sz="21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2100"/>
              <a:t>Somehow validation loss is very low</a:t>
            </a:r>
            <a:endParaRPr sz="21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2100"/>
              <a:t>Suggests improper embedding for the validation set</a:t>
            </a:r>
            <a:endParaRPr sz="2100"/>
          </a:p>
        </p:txBody>
      </p:sp>
      <p:pic>
        <p:nvPicPr>
          <p:cNvPr id="164" name="Google Shape;1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7700" y="1023700"/>
            <a:ext cx="4548899" cy="3509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type="title"/>
          </p:nvPr>
        </p:nvSpPr>
        <p:spPr>
          <a:xfrm>
            <a:off x="685800" y="228600"/>
            <a:ext cx="7772400" cy="857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Normalizing Flow Network</a:t>
            </a:r>
            <a:endParaRPr/>
          </a:p>
        </p:txBody>
      </p:sp>
      <p:sp>
        <p:nvSpPr>
          <p:cNvPr id="170" name="Google Shape;170;p33"/>
          <p:cNvSpPr txBox="1"/>
          <p:nvPr>
            <p:ph idx="1" type="body"/>
          </p:nvPr>
        </p:nvSpPr>
        <p:spPr>
          <a:xfrm>
            <a:off x="685800" y="1314450"/>
            <a:ext cx="4278900" cy="2971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*Brief explanation of normalizing flows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spectrograms are passes through the trained encoder and used as </a:t>
            </a:r>
            <a:r>
              <a:rPr lang="en"/>
              <a:t>context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>
            <p:ph type="title"/>
          </p:nvPr>
        </p:nvSpPr>
        <p:spPr>
          <a:xfrm>
            <a:off x="6858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Normalizing Flow Results</a:t>
            </a:r>
            <a:endParaRPr/>
          </a:p>
        </p:txBody>
      </p:sp>
      <p:sp>
        <p:nvSpPr>
          <p:cNvPr id="176" name="Google Shape;176;p34"/>
          <p:cNvSpPr txBox="1"/>
          <p:nvPr>
            <p:ph idx="1" type="body"/>
          </p:nvPr>
        </p:nvSpPr>
        <p:spPr>
          <a:xfrm>
            <a:off x="685800" y="1314450"/>
            <a:ext cx="77724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7209" lvl="0" marL="257209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"/>
              <a:t>Pending</a:t>
            </a:r>
            <a:endParaRPr/>
          </a:p>
          <a:p>
            <a:pPr indent="-80991" lvl="1" marL="557287" rtl="0" algn="l">
              <a:spcBef>
                <a:spcPts val="42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VP-regents-PowerPoint-HD-3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D7D9D7"/>
      </a:lt2>
      <a:accent1>
        <a:srgbClr val="7A0019"/>
      </a:accent1>
      <a:accent2>
        <a:srgbClr val="FFCC33"/>
      </a:accent2>
      <a:accent3>
        <a:srgbClr val="C82936"/>
      </a:accent3>
      <a:accent4>
        <a:srgbClr val="003D4C"/>
      </a:accent4>
      <a:accent5>
        <a:srgbClr val="79C9C7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